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9"/>
  </p:notesMasterIdLst>
  <p:sldIdLst>
    <p:sldId id="344" r:id="rId2"/>
    <p:sldId id="350" r:id="rId3"/>
    <p:sldId id="351" r:id="rId4"/>
    <p:sldId id="352" r:id="rId5"/>
    <p:sldId id="369" r:id="rId6"/>
    <p:sldId id="353" r:id="rId7"/>
    <p:sldId id="354" r:id="rId8"/>
    <p:sldId id="355" r:id="rId9"/>
    <p:sldId id="360" r:id="rId10"/>
    <p:sldId id="361" r:id="rId11"/>
    <p:sldId id="362" r:id="rId12"/>
    <p:sldId id="364" r:id="rId13"/>
    <p:sldId id="363" r:id="rId14"/>
    <p:sldId id="365" r:id="rId15"/>
    <p:sldId id="366" r:id="rId16"/>
    <p:sldId id="367" r:id="rId17"/>
    <p:sldId id="368" r:id="rId18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 varScale="1">
        <p:scale>
          <a:sx n="53" d="100"/>
          <a:sy n="53" d="100"/>
        </p:scale>
        <p:origin x="948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21/03/2016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smtClean="0">
                <a:latin typeface="Times New Roman" pitchFamily="18" charset="0"/>
              </a:rPr>
              <a:t>Seção 01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0F71F1-2FD7-4692-923E-032657326539}" type="slidenum">
              <a:rPr lang="pt-BR" altLang="pt-BR" sz="1200" smtClean="0">
                <a:latin typeface="Times New Roman" pitchFamily="18" charset="0"/>
              </a:rPr>
              <a:pPr eaLnBrk="1" hangingPunct="1"/>
              <a:t>12</a:t>
            </a:fld>
            <a:endParaRPr lang="pt-BR" altLang="pt-BR" sz="1200" smtClean="0">
              <a:latin typeface="Times New Roman" pitchFamily="18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39" y="4343072"/>
            <a:ext cx="5488325" cy="41148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21/03/2016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21/03/2016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21/03/2016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21/03/2016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21/03/2016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21/03/2016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430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848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21/03/2016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Planejando o Escopo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84964"/>
            <a:ext cx="6081142" cy="3803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4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 fontScale="90000"/>
          </a:bodyPr>
          <a:lstStyle/>
          <a:p>
            <a:r>
              <a:rPr lang="pt-BR" dirty="0"/>
              <a:t>Gerenciamento do escopo do </a:t>
            </a:r>
            <a:r>
              <a:rPr lang="pt-BR" dirty="0" smtClean="0"/>
              <a:t>projeto</a:t>
            </a:r>
            <a:br>
              <a:rPr lang="pt-BR" dirty="0" smtClean="0"/>
            </a:br>
            <a:r>
              <a:rPr lang="pt-BR" dirty="0" smtClean="0"/>
              <a:t>Fundamentos: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“O Gerenciamento do Escopo do Projeto inclui os processos necessários para assegurar que o projeto inclui todo o trabalho necessário, e apenas o necessário, para terminar o projeto com sucesso”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70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do escopo do Projeto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47613"/>
            <a:ext cx="6286298" cy="3803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56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52550"/>
            <a:ext cx="8784976" cy="366747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 smtClean="0"/>
              <a:t>É o processo de criação de um plano de gerenciamento do escopo do projeto que documenta como tal escopo será definido, validado e controlado de acordo com o </a:t>
            </a:r>
            <a:r>
              <a:rPr lang="pt-BR" altLang="pt-BR" sz="2400" dirty="0" err="1" smtClean="0"/>
              <a:t>PMBoK</a:t>
            </a:r>
            <a:endParaRPr lang="pt-BR" altLang="pt-BR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Planejar o Gerenciamento do escopo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629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352550"/>
            <a:ext cx="8784976" cy="366747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Criação do plano de gerenciamento do escopo 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o escopo será definido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será documentado, verificado e controlado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a estrutura analítica do projeto (EAP ou WBS) será criada e definida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desenvolver a declaração de escopo detalhada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Como serão aceitas as entregas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/>
              <a:t>Quais serão os requisitos</a:t>
            </a: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Planejamento do Escopo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589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 do Escopo</a:t>
            </a:r>
            <a:endParaRPr lang="pt-BR" dirty="0"/>
          </a:p>
        </p:txBody>
      </p:sp>
      <p:sp>
        <p:nvSpPr>
          <p:cNvPr id="5" name="Text Box 3"/>
          <p:cNvSpPr txBox="1">
            <a:spLocks noGrp="1" noChangeAspect="1" noChangeArrowheads="1"/>
          </p:cNvSpPr>
          <p:nvPr>
            <p:ph idx="1"/>
          </p:nvPr>
        </p:nvSpPr>
        <p:spPr bwMode="auto">
          <a:xfrm>
            <a:off x="612648" y="1352550"/>
            <a:ext cx="8153400" cy="3868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0795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+mn-lt"/>
              </a:rPr>
              <a:t>Documento que descreve em detalhes as entregas do projeto e o trabalho necessário para criar essas entregas.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b="1" dirty="0">
                <a:latin typeface="+mn-lt"/>
              </a:rPr>
              <a:t>Deve conter no mínimo: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objetivos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descrição do escopo do produto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requisitos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limites do projeto (o que está incluindo e o que não está)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entregas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restrições e premissas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 especificações do projeto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endParaRPr lang="pt-BR" altLang="pt-BR" sz="1600" u="sng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5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Analítica do Projeto</a:t>
            </a:r>
            <a:endParaRPr lang="pt-BR" dirty="0"/>
          </a:p>
        </p:txBody>
      </p:sp>
      <p:sp>
        <p:nvSpPr>
          <p:cNvPr id="6" name="Text Box 3"/>
          <p:cNvSpPr txBox="1">
            <a:spLocks noChangeAspect="1" noChangeArrowheads="1"/>
          </p:cNvSpPr>
          <p:nvPr/>
        </p:nvSpPr>
        <p:spPr bwMode="auto">
          <a:xfrm>
            <a:off x="144463" y="1357848"/>
            <a:ext cx="88201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998538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+mn-lt"/>
              </a:rPr>
              <a:t>Criação da EAP (WBS)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 smtClean="0">
                <a:latin typeface="+mn-lt"/>
              </a:rPr>
              <a:t>Subdivisão </a:t>
            </a:r>
            <a:r>
              <a:rPr lang="pt-BR" altLang="pt-BR" sz="2000" dirty="0">
                <a:latin typeface="+mn-lt"/>
              </a:rPr>
              <a:t>(hierárquica) das principais entregas do projeto e do trabalho do projeto 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Define o escopo total do trabalho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Serve para o entendimento comum do projeto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Deve conter todos os produtos (entregas) do projeto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A equipe de projeto deve determinar o nível de decomposição do projeto. </a:t>
            </a:r>
          </a:p>
          <a:p>
            <a:pPr lvl="2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000" dirty="0">
                <a:latin typeface="+mn-lt"/>
              </a:rPr>
              <a:t>A decomposição deve ser até o nível de pacote de trabalho ou nível gerenciável – custo, qualidade e prazo – e codificada para sumarizar o custo</a:t>
            </a:r>
          </a:p>
        </p:txBody>
      </p:sp>
    </p:spTree>
    <p:extLst>
      <p:ext uri="{BB962C8B-B14F-4D97-AF65-F5344CB8AC3E}">
        <p14:creationId xmlns:p14="http://schemas.microsoft.com/office/powerpoint/2010/main" val="424074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Exemplo de estrutura analítica do projeto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19788"/>
            <a:ext cx="672465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8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Exemplo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15" y="1311694"/>
            <a:ext cx="6989585" cy="3831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70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Exemplo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98689"/>
            <a:ext cx="5896987" cy="378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47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07951" y="627460"/>
            <a:ext cx="8894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en-US" altLang="pt-BR" sz="2400"/>
          </a:p>
        </p:txBody>
      </p:sp>
      <p:sp>
        <p:nvSpPr>
          <p:cNvPr id="13315" name="Text Box 3"/>
          <p:cNvSpPr txBox="1">
            <a:spLocks noChangeAspect="1" noChangeArrowheads="1"/>
          </p:cNvSpPr>
          <p:nvPr/>
        </p:nvSpPr>
        <p:spPr bwMode="auto">
          <a:xfrm>
            <a:off x="107951" y="323731"/>
            <a:ext cx="882015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541338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endParaRPr lang="pt-BR" altLang="pt-BR" sz="2400" dirty="0">
              <a:latin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endParaRPr lang="pt-BR" altLang="pt-BR" sz="2000" i="1" dirty="0">
              <a:latin typeface="Times New Roman" pitchFamily="18" charset="0"/>
            </a:endParaRP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156583" y="1311692"/>
            <a:ext cx="8821739" cy="352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1 – Colocar no primeiro nível da EAP o nome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2 – Colocar no segundo nível da EAP as fases do ciclo de vida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3 – Colocar no terceiro nível os elementos de trabalho que possibilitem o gerenciamento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4 – Identificar todos os </a:t>
            </a:r>
            <a:r>
              <a:rPr lang="pt-BR" altLang="pt-BR" sz="1800" dirty="0" err="1">
                <a:latin typeface="Times New Roman" pitchFamily="18" charset="0"/>
              </a:rPr>
              <a:t>sub-produtos</a:t>
            </a:r>
            <a:r>
              <a:rPr lang="pt-BR" altLang="pt-BR" sz="1800" dirty="0">
                <a:latin typeface="Times New Roman" pitchFamily="18" charset="0"/>
              </a:rPr>
              <a:t> necessários para que seja alcançado o sucesso final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endParaRPr lang="pt-BR" altLang="pt-BR" sz="18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itchFamily="18" charset="0"/>
              </a:rPr>
              <a:t>5 – Completar a decomposição do trabalho até o nível dos pacotes de trabalho (até 80 horas como referência)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pt-BR"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dirty="0" smtClean="0"/>
              <a:t>Criação da EAP - Dicas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98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153400" cy="1005840"/>
          </a:xfrm>
        </p:spPr>
        <p:txBody>
          <a:bodyPr>
            <a:normAutofit fontScale="90000"/>
          </a:bodyPr>
          <a:lstStyle/>
          <a:p>
            <a:r>
              <a:rPr lang="pt-BR" altLang="pt-BR" sz="4400" dirty="0"/>
              <a:t>Criação da EAP - Dicionário</a:t>
            </a:r>
            <a:br>
              <a:rPr lang="pt-BR" altLang="pt-BR" sz="4400" dirty="0"/>
            </a:br>
            <a:endParaRPr lang="pt-BR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950" y="1347614"/>
            <a:ext cx="8820150" cy="374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441325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>
                <a:latin typeface="+mn-lt"/>
              </a:rPr>
              <a:t>É definido visando o controle do trabalho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>
                <a:latin typeface="+mn-lt"/>
              </a:rPr>
              <a:t>Auxilia no estabelecimento de limites quanto ao que está incluído em cada atividade ou “</a:t>
            </a:r>
            <a:r>
              <a:rPr lang="pt-BR" altLang="pt-BR" sz="2400" dirty="0" err="1">
                <a:latin typeface="+mn-lt"/>
              </a:rPr>
              <a:t>Work</a:t>
            </a:r>
            <a:r>
              <a:rPr lang="pt-BR" altLang="pt-BR" sz="2400" dirty="0">
                <a:latin typeface="+mn-lt"/>
              </a:rPr>
              <a:t> </a:t>
            </a:r>
            <a:r>
              <a:rPr lang="pt-BR" altLang="pt-BR" sz="2400" dirty="0" err="1">
                <a:latin typeface="+mn-lt"/>
              </a:rPr>
              <a:t>Package</a:t>
            </a:r>
            <a:r>
              <a:rPr lang="pt-BR" altLang="pt-BR" sz="2400" dirty="0">
                <a:latin typeface="+mn-lt"/>
              </a:rPr>
              <a:t>”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Char char="§"/>
            </a:pPr>
            <a:r>
              <a:rPr lang="pt-BR" altLang="pt-BR" sz="2400" dirty="0" smtClean="0">
                <a:latin typeface="+mn-lt"/>
              </a:rPr>
              <a:t>Pode </a:t>
            </a:r>
            <a:r>
              <a:rPr lang="pt-BR" altLang="pt-BR" sz="2400" dirty="0">
                <a:latin typeface="+mn-lt"/>
              </a:rPr>
              <a:t>conter: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-descrição da atividade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-critérios de aceitação, restrições, premissas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-códigos de controle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400" dirty="0">
                <a:latin typeface="+mn-lt"/>
              </a:rPr>
              <a:t>-cronograma de atividade e sequenciamento das atividades dentro do pacote de trabalho</a:t>
            </a:r>
          </a:p>
        </p:txBody>
      </p:sp>
    </p:spTree>
    <p:extLst>
      <p:ext uri="{BB962C8B-B14F-4D97-AF65-F5344CB8AC3E}">
        <p14:creationId xmlns:p14="http://schemas.microsoft.com/office/powerpoint/2010/main" val="2933103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Criação da EAP - Dicionário</a:t>
            </a:r>
            <a:endParaRPr lang="pt-B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53258"/>
            <a:ext cx="7488833" cy="3790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53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em sala de aula – Escopo</a:t>
            </a:r>
            <a:endParaRPr lang="pt-BR" dirty="0"/>
          </a:p>
        </p:txBody>
      </p:sp>
      <p:sp>
        <p:nvSpPr>
          <p:cNvPr id="4" name="Text Box 3"/>
          <p:cNvSpPr txBox="1">
            <a:spLocks noChangeAspect="1" noChangeArrowheads="1"/>
          </p:cNvSpPr>
          <p:nvPr/>
        </p:nvSpPr>
        <p:spPr bwMode="auto">
          <a:xfrm>
            <a:off x="290890" y="1416844"/>
            <a:ext cx="8820150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b="1" dirty="0">
                <a:latin typeface="+mn-lt"/>
              </a:rPr>
              <a:t>Estudo de Caso: Projeto - Correspondência Eletrônica nos Correios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Defina o escopo do projeto apresentado no texto a seguir. Identificar as informações abaixo no texto.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1 – Justificativa para o projeto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2 – Objetivo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3 – Descrição do produto do projeto e outros entregáveis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4 – Critérios de aceitação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5 – Premissas (hipóteses)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6 – Restrições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7 – Acompanhamento do projeto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8 – Riscos iniciais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9 – Estimativas de custo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</a:pPr>
            <a:r>
              <a:rPr lang="pt-BR" altLang="pt-BR" sz="1600" dirty="0">
                <a:latin typeface="+mn-lt"/>
              </a:rPr>
              <a:t>10 – Cronograma de marcos</a:t>
            </a:r>
          </a:p>
        </p:txBody>
      </p:sp>
    </p:spTree>
    <p:extLst>
      <p:ext uri="{BB962C8B-B14F-4D97-AF65-F5344CB8AC3E}">
        <p14:creationId xmlns:p14="http://schemas.microsoft.com/office/powerpoint/2010/main" val="241183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em sala de aula – Escopo</a:t>
            </a:r>
            <a:endParaRPr lang="pt-BR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736" y="1310020"/>
            <a:ext cx="6408712" cy="382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76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dirty="0" smtClean="0"/>
              <a:t>Exercício em sala de aula – Estudo de Caso Iniciação</a:t>
            </a:r>
            <a:endParaRPr lang="pt-BR" sz="3600" dirty="0"/>
          </a:p>
        </p:txBody>
      </p:sp>
      <p:sp>
        <p:nvSpPr>
          <p:cNvPr id="4" name="Text Box 3"/>
          <p:cNvSpPr txBox="1">
            <a:spLocks noChangeAspect="1" noChangeArrowheads="1"/>
          </p:cNvSpPr>
          <p:nvPr/>
        </p:nvSpPr>
        <p:spPr bwMode="auto">
          <a:xfrm>
            <a:off x="144463" y="1301432"/>
            <a:ext cx="882015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Times New Roman" pitchFamily="18" charset="0"/>
              </a:rPr>
              <a:t>Estudo de Caso: Projeto correspondência eletrônica nos Correios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pt-BR" altLang="pt-BR" sz="2000" dirty="0">
                <a:latin typeface="Times New Roman" pitchFamily="18" charset="0"/>
              </a:rPr>
              <a:t>Outras informações sobre o estudo de caso.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668029"/>
              </p:ext>
            </p:extLst>
          </p:nvPr>
        </p:nvGraphicFramePr>
        <p:xfrm>
          <a:off x="142871" y="2065018"/>
          <a:ext cx="856932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m de bitmap" r:id="rId3" imgW="7868748" imgH="1219370" progId="PBrush">
                  <p:embed/>
                </p:oleObj>
              </mc:Choice>
              <mc:Fallback>
                <p:oleObj name="Imagem de bitmap" r:id="rId3" imgW="7868748" imgH="1219370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1" y="2065018"/>
                        <a:ext cx="856932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30" y="3450563"/>
            <a:ext cx="8358926" cy="164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2245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E75B81DA1B47419D7FC19F21B2E94F" ma:contentTypeVersion="7" ma:contentTypeDescription="Create a new document." ma:contentTypeScope="" ma:versionID="61abf2ca0d299ec7e27092f1da4ba49d">
  <xsd:schema xmlns:xsd="http://www.w3.org/2001/XMLSchema" xmlns:xs="http://www.w3.org/2001/XMLSchema" xmlns:p="http://schemas.microsoft.com/office/2006/metadata/properties" xmlns:ns2="7c38dc6f-a8b4-4f79-a2c6-b82ddc17a729" xmlns:ns3="9f296061-4dbf-4598-a9c7-d84ff4c00645" targetNamespace="http://schemas.microsoft.com/office/2006/metadata/properties" ma:root="true" ma:fieldsID="3be6e281c4a4906ba0e24cb6c674d2c1" ns2:_="" ns3:_="">
    <xsd:import namespace="7c38dc6f-a8b4-4f79-a2c6-b82ddc17a729"/>
    <xsd:import namespace="9f296061-4dbf-4598-a9c7-d84ff4c00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8dc6f-a8b4-4f79-a2c6-b82ddc17a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296061-4dbf-4598-a9c7-d84ff4c006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30b112e-2d28-4213-9fbc-f89ad5ff49d9}" ma:internalName="TaxCatchAll" ma:showField="CatchAllData" ma:web="9f296061-4dbf-4598-a9c7-d84ff4c006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38dc6f-a8b4-4f79-a2c6-b82ddc17a729">
      <Terms xmlns="http://schemas.microsoft.com/office/infopath/2007/PartnerControls"/>
    </lcf76f155ced4ddcb4097134ff3c332f>
    <TaxCatchAll xmlns="9f296061-4dbf-4598-a9c7-d84ff4c00645" xsi:nil="true"/>
  </documentManagement>
</p:properties>
</file>

<file path=customXml/itemProps1.xml><?xml version="1.0" encoding="utf-8"?>
<ds:datastoreItem xmlns:ds="http://schemas.openxmlformats.org/officeDocument/2006/customXml" ds:itemID="{7C05AD69-2224-4D5D-AF41-9E7B65DBD689}"/>
</file>

<file path=customXml/itemProps2.xml><?xml version="1.0" encoding="utf-8"?>
<ds:datastoreItem xmlns:ds="http://schemas.openxmlformats.org/officeDocument/2006/customXml" ds:itemID="{871C33BD-DD6A-42C4-958D-2635B02A4245}"/>
</file>

<file path=customXml/itemProps3.xml><?xml version="1.0" encoding="utf-8"?>
<ds:datastoreItem xmlns:ds="http://schemas.openxmlformats.org/officeDocument/2006/customXml" ds:itemID="{D292D27B-74D3-4F85-BA15-34D6A0AA67B1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606</Words>
  <Application>Microsoft Office PowerPoint</Application>
  <PresentationFormat>Apresentação na tela (16:9)</PresentationFormat>
  <Paragraphs>77</Paragraphs>
  <Slides>17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Times New Roman</vt:lpstr>
      <vt:lpstr>Tw Cen MT</vt:lpstr>
      <vt:lpstr>Wingdings</vt:lpstr>
      <vt:lpstr>Wingdings 2</vt:lpstr>
      <vt:lpstr>Apresentação em Tela Larga</vt:lpstr>
      <vt:lpstr>Imagem de bitmap</vt:lpstr>
      <vt:lpstr>GESTÃO DE PROJETOS</vt:lpstr>
      <vt:lpstr>Planejando o Escopo</vt:lpstr>
      <vt:lpstr>Gerenciamento do escopo do projeto Fundamentos:</vt:lpstr>
      <vt:lpstr>Gerenciamento do escopo do Projeto</vt:lpstr>
      <vt:lpstr>Planejar o Gerenciamento do escopo</vt:lpstr>
      <vt:lpstr>Planejamento do Escopo</vt:lpstr>
      <vt:lpstr>Definição do Escopo</vt:lpstr>
      <vt:lpstr>Estrutura Analítica do Projeto</vt:lpstr>
      <vt:lpstr>Exemplo de estrutura analítica do projeto</vt:lpstr>
      <vt:lpstr>Criação da EAP - Exemplo</vt:lpstr>
      <vt:lpstr>Criação da EAP - Exemplo</vt:lpstr>
      <vt:lpstr>Apresentação do PowerPoint</vt:lpstr>
      <vt:lpstr>Criação da EAP - Dicionário </vt:lpstr>
      <vt:lpstr>Criação da EAP - Dicionário</vt:lpstr>
      <vt:lpstr>Exercício em sala de aula – Escopo</vt:lpstr>
      <vt:lpstr>Exercício em sala de aula – Escopo</vt:lpstr>
      <vt:lpstr>Exercício em sala de aula – Estudo de Caso Iniciação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2012-07-30T18:40:18Z</dcterms:created>
  <dcterms:modified xsi:type="dcterms:W3CDTF">2016-03-22T02:23:35Z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0x0101004FE75B81DA1B47419D7FC19F21B2E94F</vt:lpwstr>
  </property>
  <property fmtid="{D5CDD505-2E9C-101B-9397-08002B2CF9AE}" pid="5" name="MediaServiceImageTags">
    <vt:lpwstr/>
  </property>
  <property fmtid="{D5CDD505-2E9C-101B-9397-08002B2CF9AE}" pid="6" name="Order">
    <vt:r8>2000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