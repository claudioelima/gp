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5"/>
  </p:notesMasterIdLst>
  <p:sldIdLst>
    <p:sldId id="366" r:id="rId5"/>
    <p:sldId id="368" r:id="rId6"/>
    <p:sldId id="356" r:id="rId7"/>
    <p:sldId id="260" r:id="rId8"/>
    <p:sldId id="261" r:id="rId9"/>
    <p:sldId id="362" r:id="rId10"/>
    <p:sldId id="357" r:id="rId11"/>
    <p:sldId id="371" r:id="rId12"/>
    <p:sldId id="367" r:id="rId13"/>
    <p:sldId id="262" r:id="rId14"/>
  </p:sldIdLst>
  <p:sldSz cx="9144000" cy="5143500" type="screen16x9"/>
  <p:notesSz cx="6858000" cy="9144000"/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7462F4-00C9-8D7A-29C6-A5700624DC2B}" v="2" dt="2023-08-08T17:21:50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2" autoAdjust="0"/>
    <p:restoredTop sz="87567" autoAdjust="0"/>
  </p:normalViewPr>
  <p:slideViewPr>
    <p:cSldViewPr>
      <p:cViewPr varScale="1">
        <p:scale>
          <a:sx n="73" d="100"/>
          <a:sy n="73" d="100"/>
        </p:scale>
        <p:origin x="984" y="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12/02/2026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552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87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262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12/02/2026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pPr/>
              <a:t>12/02/2026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pPr/>
              <a:t>12/02/2026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12/02/2026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12/02/2026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pPr/>
              <a:t>12/02/2026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pPr/>
              <a:t>12/02/2026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pPr/>
              <a:t>12/02/2026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/>
              <a:t>Clique no ícone para adicionar uma imagem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pPr/>
              <a:t>12/02/2026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98B7F-CD15-4C33-9FFC-0364D6C1D1A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3260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9CAD7F35-0AD9-4348-9BD3-6CE8D03A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6A3913-211A-4416-B351-E8AF4B8ACA4A}" type="datetimeFigureOut">
              <a:rPr lang="pt-BR"/>
              <a:pPr>
                <a:defRPr/>
              </a:pPr>
              <a:t>12/02/2026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F875E646-D4AD-4C64-B2C9-462968DF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8467FE66-F545-40D8-ACA4-DEE0D10D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5C929-FF81-4EF3-9541-DBA5CE1B6B5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1040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12/02/2026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latinLnBrk="0" hangingPunct="1"/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ArLo94Gqr4WNWnIVKtO_HH8L5gz-2JAaNhax8YgW4Ek/edit?usp=sharing" TargetMode="Externa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39752" y="4659982"/>
            <a:ext cx="6515100" cy="555526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Análise e Desenvolvimento de Sistemas</a:t>
            </a:r>
          </a:p>
          <a:p>
            <a:r>
              <a:rPr lang="en-US" dirty="0"/>
              <a:t>Prof. Claudio Lima - http://lattes.cnpq.br/</a:t>
            </a:r>
            <a:r>
              <a:rPr lang="pt-BR" dirty="0"/>
              <a:t>9330552327454666</a:t>
            </a:r>
            <a:r>
              <a:rPr lang="en-US" dirty="0"/>
              <a:t> </a:t>
            </a:r>
          </a:p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pt-BR" sz="4400" b="1" dirty="0" err="1">
                <a:solidFill>
                  <a:schemeClr val="tx1"/>
                </a:solidFill>
              </a:rPr>
              <a:t>Gestão</a:t>
            </a:r>
            <a:r>
              <a:rPr lang="en-US" altLang="pt-BR" sz="4400" b="1" dirty="0">
                <a:solidFill>
                  <a:schemeClr val="tx1"/>
                </a:solidFill>
              </a:rPr>
              <a:t> DE PROJETOS</a:t>
            </a:r>
          </a:p>
        </p:txBody>
      </p:sp>
    </p:spTree>
    <p:extLst>
      <p:ext uri="{BB962C8B-B14F-4D97-AF65-F5344CB8AC3E}">
        <p14:creationId xmlns:p14="http://schemas.microsoft.com/office/powerpoint/2010/main" val="1411462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31590"/>
            <a:ext cx="8712968" cy="4155926"/>
          </a:xfrm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defRPr/>
            </a:pPr>
            <a:endParaRPr lang="pt-BR" altLang="pt-BR" sz="2400" b="1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Formação Acadêmica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Graduado em Ciência da Computação;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Formação Pedagógica;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Engenharia de Sistemas;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Psicopedagogia.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Mestrado Incompleto em Engenharia da Computação.</a:t>
            </a:r>
          </a:p>
          <a:p>
            <a:pPr algn="just"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Experiência Profissional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Tenho experiência 20 anos no Mercado de Tecnologia Gestão GSB – Gerdau- SA;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sz="1800" dirty="0"/>
              <a:t>Atualmente trabalho com Professor da Fatec-SJC, ETEC e no curso de Gestão Empresarial da FATEC, modalidade a distância.</a:t>
            </a:r>
            <a:endParaRPr lang="pt-BR" altLang="pt-BR" sz="1800" dirty="0"/>
          </a:p>
          <a:p>
            <a:pPr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e-mail: </a:t>
            </a:r>
            <a:r>
              <a:rPr lang="pt-BR" altLang="pt-BR" sz="1800" dirty="0"/>
              <a:t>claudioelima@gmail.com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0" y="0"/>
            <a:ext cx="9144000" cy="844154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eaLnBrk="1" hangingPunct="1">
              <a:spcBef>
                <a:spcPct val="0"/>
              </a:spcBef>
              <a:buNone/>
              <a:defRPr kumimoji="0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pt-BR" altLang="pt-BR" dirty="0"/>
              <a:t>Informações sobre o </a:t>
            </a:r>
            <a:r>
              <a:rPr lang="pt-BR" altLang="pt-BR" dirty="0" err="1"/>
              <a:t>Profº</a:t>
            </a:r>
            <a:r>
              <a:rPr lang="pt-BR" altLang="pt-BR" dirty="0"/>
              <a:t>. Claudio</a:t>
            </a:r>
          </a:p>
        </p:txBody>
      </p:sp>
      <p:pic>
        <p:nvPicPr>
          <p:cNvPr id="3" name="Imagem 2" descr="Homem de barba e óculos&#10;&#10;Descrição gerada automaticamente">
            <a:extLst>
              <a:ext uri="{FF2B5EF4-FFF2-40B4-BE49-F238E27FC236}">
                <a16:creationId xmlns:a16="http://schemas.microsoft.com/office/drawing/2014/main" id="{223466CA-7599-4C69-A186-5C5296FFF9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913" y="1275606"/>
            <a:ext cx="2264087" cy="226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77869"/>
      </p:ext>
    </p:extLst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1" y="844153"/>
            <a:ext cx="8208963" cy="3556397"/>
          </a:xfrm>
          <a:noFill/>
        </p:spPr>
        <p:txBody>
          <a:bodyPr lIns="92075" tIns="46038" rIns="92075" bIns="46038">
            <a:normAutofit/>
          </a:bodyPr>
          <a:lstStyle/>
          <a:p>
            <a:pPr>
              <a:lnSpc>
                <a:spcPct val="80000"/>
              </a:lnSpc>
            </a:pPr>
            <a:endParaRPr lang="pt-BR" altLang="pt-BR" sz="2800" dirty="0"/>
          </a:p>
          <a:p>
            <a:pPr>
              <a:lnSpc>
                <a:spcPct val="80000"/>
              </a:lnSpc>
            </a:pPr>
            <a:endParaRPr lang="pt-BR" altLang="pt-BR" sz="2800" dirty="0"/>
          </a:p>
          <a:p>
            <a:pPr>
              <a:lnSpc>
                <a:spcPct val="80000"/>
              </a:lnSpc>
            </a:pPr>
            <a:r>
              <a:rPr lang="pt-BR" altLang="pt-BR" sz="2800" dirty="0"/>
              <a:t>Qual é o seu nome ?</a:t>
            </a:r>
          </a:p>
          <a:p>
            <a:pPr>
              <a:lnSpc>
                <a:spcPct val="80000"/>
              </a:lnSpc>
            </a:pPr>
            <a:r>
              <a:rPr lang="pt-BR" altLang="pt-BR" sz="2800" dirty="0"/>
              <a:t>De onde é?</a:t>
            </a:r>
          </a:p>
          <a:p>
            <a:pPr>
              <a:lnSpc>
                <a:spcPct val="80000"/>
              </a:lnSpc>
            </a:pPr>
            <a:r>
              <a:rPr lang="pt-BR" altLang="pt-BR" sz="2800" dirty="0"/>
              <a:t>O que faz?</a:t>
            </a:r>
          </a:p>
          <a:p>
            <a:pPr>
              <a:lnSpc>
                <a:spcPct val="80000"/>
              </a:lnSpc>
            </a:pPr>
            <a:r>
              <a:rPr lang="pt-BR" altLang="pt-BR" sz="2800" dirty="0"/>
              <a:t>Qual sua expectativa para este semestre ?</a:t>
            </a:r>
          </a:p>
          <a:p>
            <a:pPr>
              <a:lnSpc>
                <a:spcPct val="80000"/>
              </a:lnSpc>
            </a:pPr>
            <a:r>
              <a:rPr lang="pt-BR" altLang="pt-BR" sz="2800" dirty="0"/>
              <a:t>O que tem por hobby, etc.</a:t>
            </a: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0" y="0"/>
            <a:ext cx="9144000" cy="844154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eaLnBrk="1" hangingPunct="1">
              <a:spcBef>
                <a:spcPct val="0"/>
              </a:spcBef>
              <a:buNone/>
              <a:defRPr kumimoji="0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pt-BR" altLang="pt-BR" dirty="0"/>
              <a:t>Apresentação dos Alunos</a:t>
            </a:r>
          </a:p>
        </p:txBody>
      </p:sp>
    </p:spTree>
    <p:extLst>
      <p:ext uri="{BB962C8B-B14F-4D97-AF65-F5344CB8AC3E}">
        <p14:creationId xmlns:p14="http://schemas.microsoft.com/office/powerpoint/2010/main" val="626188212"/>
      </p:ext>
    </p:extLst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41FA367-B275-4ADC-BCB8-23993FB64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35" y="195263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pt-BR" sz="2700"/>
              <a:t>Objetivos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7D28C7E-2B1A-4A2C-97C7-0AF06B791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vert="horz" lIns="91440" tIns="45720" rIns="91440" bIns="45720" anchor="t">
            <a:normAutofit/>
          </a:bodyPr>
          <a:lstStyle/>
          <a:p>
            <a:pPr algn="ctr" eaLnBrk="1" hangingPunct="1">
              <a:buFontTx/>
              <a:buNone/>
            </a:pPr>
            <a:endParaRPr lang="pt-BR" altLang="pt-BR" dirty="0"/>
          </a:p>
          <a:p>
            <a:pPr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TwCenMT-Regular"/>
              </a:rPr>
              <a:t>Conhecer e aplicar técnicas, métodos e ferramentas para uma gestão </a:t>
            </a:r>
            <a:r>
              <a:rPr lang="pt-BR" sz="1800" dirty="0">
                <a:solidFill>
                  <a:srgbClr val="000000"/>
                </a:solidFill>
                <a:latin typeface="TwCenMT-Regular"/>
              </a:rPr>
              <a:t>de projetos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TwCenMT-Regular"/>
              </a:rPr>
              <a:t>.</a:t>
            </a:r>
            <a:r>
              <a:rPr lang="pt-BR" dirty="0"/>
              <a:t> </a:t>
            </a:r>
            <a:br>
              <a:rPr lang="pt-BR" dirty="0"/>
            </a:br>
            <a:endParaRPr lang="pt-BR" alt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029E6C7-CE63-4FC4-ADD2-3A797A3C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/>
              <a:t>Ementa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6B4F77F-A696-4120-BCDB-13250F967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512" y="1363266"/>
            <a:ext cx="8964488" cy="3780234"/>
          </a:xfrm>
        </p:spPr>
        <p:txBody>
          <a:bodyPr>
            <a:normAutofit fontScale="70000" lnSpcReduction="20000"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Definição de projeto segundo concepção difundida pelas melhores práticas de gestão de projetos. Histórico do desenvolvimento do conjunto de conhecimentos de gestão de projetos. Comparação entre o gerenciamento por projetos com o gerenciamento tradicional. O ciclo de vida de um projeto. Os fatores de sucesso e insucesso de projetos e sua mensuração. 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As 10 de conhecimento para a gestão de projetos e seus processos :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Integração;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Escopo</a:t>
            </a:r>
            <a:r>
              <a:rPr lang="pt-BR" sz="2000" dirty="0">
                <a:solidFill>
                  <a:srgbClr val="000000"/>
                </a:solidFill>
                <a:latin typeface="TwCenMT-Regular"/>
              </a:rPr>
              <a:t>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Tempo;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Custo</a:t>
            </a:r>
            <a:r>
              <a:rPr lang="pt-BR" sz="2000" dirty="0">
                <a:solidFill>
                  <a:srgbClr val="000000"/>
                </a:solidFill>
                <a:latin typeface="TwCenMT-Regular"/>
              </a:rPr>
              <a:t>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Qualidade;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Recursos Humanos;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Comunicações;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Riscos;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Aquisições;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TwCenMT-Regular"/>
              </a:rPr>
              <a:t>Partes Interessadas.</a:t>
            </a:r>
            <a:r>
              <a:rPr lang="pt-BR" sz="1200" dirty="0"/>
              <a:t> </a:t>
            </a:r>
            <a:br>
              <a:rPr lang="pt-BR" sz="1200" dirty="0"/>
            </a:br>
            <a:endParaRPr lang="en-US" altLang="pt-BR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C309B-3625-4FBE-9A54-9E49712C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41C9C-6038-4F1B-A382-406FE0F970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7850832" cy="3019399"/>
          </a:xfrm>
        </p:spPr>
        <p:txBody>
          <a:bodyPr/>
          <a:lstStyle/>
          <a:p>
            <a:r>
              <a:rPr lang="pt-BR" dirty="0"/>
              <a:t>Expositiva;</a:t>
            </a:r>
          </a:p>
          <a:p>
            <a:r>
              <a:rPr lang="pt-BR" dirty="0"/>
              <a:t>Mídias;</a:t>
            </a:r>
          </a:p>
          <a:p>
            <a:r>
              <a:rPr lang="pt-BR" dirty="0"/>
              <a:t>Pesquisas;</a:t>
            </a:r>
          </a:p>
          <a:p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Aprendizagem Baseada em Projetos </a:t>
            </a:r>
            <a:r>
              <a:rPr lang="pt-BR" b="1" i="0" dirty="0">
                <a:solidFill>
                  <a:srgbClr val="202124"/>
                </a:solidFill>
                <a:effectLst/>
                <a:latin typeface="Google Sans"/>
              </a:rPr>
              <a:t>Reais</a:t>
            </a:r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 (RPBL)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2125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7250"/>
          </a:xfrm>
        </p:spPr>
        <p:txBody>
          <a:bodyPr vert="horz" anchor="b">
            <a:normAutofit/>
          </a:bodyPr>
          <a:lstStyle/>
          <a:p>
            <a:r>
              <a:rPr lang="en-US" dirty="0" err="1"/>
              <a:t>Carga</a:t>
            </a:r>
            <a:r>
              <a:rPr lang="en-US" dirty="0"/>
              <a:t> </a:t>
            </a:r>
            <a:r>
              <a:rPr lang="en-US" dirty="0" err="1"/>
              <a:t>Horária</a:t>
            </a:r>
            <a:r>
              <a:rPr lang="en-US" dirty="0"/>
              <a:t> da </a:t>
            </a:r>
            <a:r>
              <a:rPr lang="en-US" dirty="0" err="1"/>
              <a:t>Disciplina</a:t>
            </a:r>
            <a:endParaRPr lang="pt-BR" dirty="0"/>
          </a:p>
        </p:txBody>
      </p:sp>
      <p:sp>
        <p:nvSpPr>
          <p:cNvPr id="819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pt-BR" b="1" dirty="0" err="1"/>
              <a:t>Carga</a:t>
            </a:r>
            <a:r>
              <a:rPr lang="en-US" altLang="pt-BR" b="1" dirty="0"/>
              <a:t> </a:t>
            </a:r>
            <a:r>
              <a:rPr lang="en-US" altLang="pt-BR" b="1" dirty="0" err="1"/>
              <a:t>Horária</a:t>
            </a:r>
            <a:r>
              <a:rPr lang="en-US" altLang="pt-BR" b="1" dirty="0"/>
              <a:t> </a:t>
            </a:r>
            <a:r>
              <a:rPr lang="en-US" altLang="pt-BR" b="1" dirty="0" err="1"/>
              <a:t>Semanal</a:t>
            </a:r>
            <a:endParaRPr lang="en-US" altLang="pt-BR" b="1" dirty="0"/>
          </a:p>
          <a:p>
            <a:pPr lvl="1"/>
            <a:r>
              <a:rPr lang="en-US" altLang="pt-BR" dirty="0"/>
              <a:t>04 horas/aula</a:t>
            </a:r>
          </a:p>
          <a:p>
            <a:pPr lvl="2"/>
            <a:r>
              <a:rPr lang="en-US" altLang="pt-BR" dirty="0"/>
              <a:t>02 </a:t>
            </a:r>
            <a:r>
              <a:rPr lang="en-US" altLang="pt-BR" dirty="0" err="1"/>
              <a:t>teóricas</a:t>
            </a:r>
            <a:endParaRPr lang="en-US" altLang="pt-BR" dirty="0"/>
          </a:p>
          <a:p>
            <a:pPr lvl="2"/>
            <a:r>
              <a:rPr lang="en-US" altLang="pt-BR" dirty="0"/>
              <a:t>02 </a:t>
            </a:r>
            <a:r>
              <a:rPr lang="en-US" altLang="pt-BR" dirty="0" err="1"/>
              <a:t>práticas</a:t>
            </a:r>
            <a:endParaRPr lang="en-US" altLang="pt-BR" dirty="0"/>
          </a:p>
          <a:p>
            <a:pPr marL="0" indent="0">
              <a:buFont typeface="Wingdings" pitchFamily="2" charset="2"/>
              <a:buNone/>
            </a:pPr>
            <a:r>
              <a:rPr lang="en-US" altLang="pt-BR" b="1" dirty="0" err="1"/>
              <a:t>Carga</a:t>
            </a:r>
            <a:r>
              <a:rPr lang="en-US" altLang="pt-BR" b="1" dirty="0"/>
              <a:t> </a:t>
            </a:r>
            <a:r>
              <a:rPr lang="en-US" altLang="pt-BR" b="1" dirty="0" err="1"/>
              <a:t>Horária</a:t>
            </a:r>
            <a:r>
              <a:rPr lang="en-US" altLang="pt-BR" b="1" dirty="0"/>
              <a:t> </a:t>
            </a:r>
            <a:r>
              <a:rPr lang="en-US" altLang="pt-BR" b="1" dirty="0" err="1"/>
              <a:t>Semestral</a:t>
            </a:r>
            <a:endParaRPr lang="en-US" altLang="pt-BR" b="1" dirty="0"/>
          </a:p>
          <a:p>
            <a:pPr lvl="1"/>
            <a:r>
              <a:rPr lang="pt-BR" altLang="pt-BR" dirty="0"/>
              <a:t>80 horas/aula</a:t>
            </a:r>
          </a:p>
        </p:txBody>
      </p:sp>
    </p:spTree>
    <p:extLst>
      <p:ext uri="{BB962C8B-B14F-4D97-AF65-F5344CB8AC3E}">
        <p14:creationId xmlns:p14="http://schemas.microsoft.com/office/powerpoint/2010/main" val="4159740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 de Avaliação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0" y="1635646"/>
            <a:ext cx="9144000" cy="4032448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✅ </a:t>
            </a:r>
            <a:r>
              <a:rPr lang="pt-BR" sz="2000" b="1" dirty="0"/>
              <a:t>Requisitos para Aprovação: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Média final:</a:t>
            </a:r>
            <a:r>
              <a:rPr lang="pt-BR" sz="2000" dirty="0"/>
              <a:t> É necessário obter </a:t>
            </a:r>
            <a:r>
              <a:rPr lang="pt-BR" sz="2000" b="1" dirty="0"/>
              <a:t>GP &gt;= 6</a:t>
            </a:r>
            <a:r>
              <a:rPr lang="pt-BR" sz="2000" dirty="0"/>
              <a:t> para que a nota do API seja considerada.</a:t>
            </a:r>
            <a:br>
              <a:rPr lang="pt-BR" sz="2000" dirty="0"/>
            </a:br>
            <a:r>
              <a:rPr lang="pt-BR" sz="2000" dirty="0"/>
              <a:t>A disciplina </a:t>
            </a:r>
            <a:r>
              <a:rPr lang="pt-BR" sz="2000" b="1" dirty="0"/>
              <a:t>GP</a:t>
            </a:r>
            <a:r>
              <a:rPr lang="pt-BR" sz="2000" dirty="0"/>
              <a:t> contará com </a:t>
            </a:r>
            <a:r>
              <a:rPr lang="pt-BR" sz="2000" b="1" dirty="0"/>
              <a:t>3 atividades avaliativas individuais</a:t>
            </a:r>
            <a:r>
              <a:rPr lang="pt-BR" sz="2000" dirty="0"/>
              <a:t> e </a:t>
            </a:r>
            <a:r>
              <a:rPr lang="pt-BR" sz="2000" b="1" dirty="0"/>
              <a:t>2 provas</a:t>
            </a:r>
            <a:r>
              <a:rPr lang="pt-BR" sz="2000" dirty="0"/>
              <a:t> ao longo do semestre.</a:t>
            </a:r>
          </a:p>
          <a:p>
            <a:pPr marL="0" indent="0">
              <a:buNone/>
            </a:pPr>
            <a:r>
              <a:rPr lang="pt-BR" sz="2000" dirty="0"/>
              <a:t>📋 </a:t>
            </a:r>
            <a:r>
              <a:rPr lang="pt-BR" sz="2000" b="1" dirty="0"/>
              <a:t>Conceito e Situação: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20 faltas:</a:t>
            </a:r>
            <a:r>
              <a:rPr lang="pt-BR" sz="2000" dirty="0"/>
              <a:t> ❌ </a:t>
            </a:r>
            <a:r>
              <a:rPr lang="pt-BR" sz="2000" i="1" dirty="0"/>
              <a:t>Reprovado por faltas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Média Final &lt; 6:</a:t>
            </a:r>
            <a:r>
              <a:rPr lang="pt-BR" sz="2000" dirty="0"/>
              <a:t> ❌ </a:t>
            </a:r>
            <a:r>
              <a:rPr lang="pt-BR" sz="2000" i="1" dirty="0"/>
              <a:t>Reprovado</a:t>
            </a:r>
            <a:endParaRPr lang="pt-BR" sz="2000" dirty="0"/>
          </a:p>
          <a:p>
            <a:pPr marL="0" indent="0">
              <a:buNone/>
            </a:pPr>
            <a:r>
              <a:rPr lang="pt-BR" sz="2000" b="1" dirty="0"/>
              <a:t>Média Final ≥ 6:</a:t>
            </a:r>
            <a:r>
              <a:rPr lang="pt-BR" sz="2000" dirty="0"/>
              <a:t> ✅ </a:t>
            </a:r>
            <a:r>
              <a:rPr lang="pt-BR" sz="2000" i="1" dirty="0"/>
              <a:t>Aprovado</a:t>
            </a:r>
            <a:endParaRPr lang="pt-BR" sz="2000" dirty="0"/>
          </a:p>
          <a:p>
            <a:pPr marL="0" indent="0">
              <a:buNone/>
            </a:pPr>
            <a:r>
              <a:rPr lang="pt-BR" sz="2000" dirty="0"/>
              <a:t>🚫 </a:t>
            </a:r>
            <a:r>
              <a:rPr lang="pt-BR" sz="2000" b="1" dirty="0"/>
              <a:t>Atenção:</a:t>
            </a:r>
            <a:br>
              <a:rPr lang="pt-BR" sz="2000" dirty="0"/>
            </a:br>
            <a:r>
              <a:rPr lang="pt-BR" sz="2000" b="1" dirty="0"/>
              <a:t>Exame Final:</a:t>
            </a:r>
            <a:r>
              <a:rPr lang="pt-BR" sz="2000" dirty="0"/>
              <a:t> será concedido somente aos alunos que </a:t>
            </a:r>
            <a:r>
              <a:rPr lang="pt-BR" sz="2000" b="1" dirty="0"/>
              <a:t>não forem reprovados por falta</a:t>
            </a:r>
            <a:r>
              <a:rPr lang="pt-BR" sz="2000" dirty="0"/>
              <a:t>.</a:t>
            </a:r>
          </a:p>
          <a:p>
            <a:pPr marL="0" indent="0">
              <a:buNone/>
            </a:pPr>
            <a:endParaRPr lang="pt-BR" sz="2800" dirty="0"/>
          </a:p>
          <a:p>
            <a:pPr marL="274320" lvl="1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23874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30843-7C16-60AE-F759-33880D42D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Temas para as Atividades Avaliativas Individual (AAI)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4A3F72A-C08B-6B2B-FA24-155F2AC654EA}"/>
              </a:ext>
            </a:extLst>
          </p:cNvPr>
          <p:cNvSpPr txBox="1"/>
          <p:nvPr/>
        </p:nvSpPr>
        <p:spPr>
          <a:xfrm>
            <a:off x="0" y="2387084"/>
            <a:ext cx="88518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hlinkClick r:id="rId2"/>
              </a:rPr>
              <a:t>https://docs.google.com/spreadsheets/d/1ArLo94Gqr4WNWnIVKtO_HH8L5gz-2JAaNhax8YgW4Ek/edit?usp=sharing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003326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41975DB-D8AB-438A-8F01-CA21C51A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35" y="195263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pt-BR"/>
              <a:t>Bibliografia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9466769-46F1-4B53-8844-2DB6432AB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pt-BR" sz="1800" b="0" i="0" dirty="0">
                <a:solidFill>
                  <a:srgbClr val="FF0000"/>
                </a:solidFill>
                <a:effectLst/>
                <a:latin typeface="TwCenMT-Regular"/>
              </a:rPr>
              <a:t>Bibliografia Básica</a:t>
            </a:r>
            <a:br>
              <a:rPr lang="pt-BR" sz="1800" b="0" i="0" dirty="0">
                <a:solidFill>
                  <a:srgbClr val="FF0000"/>
                </a:solidFill>
                <a:effectLst/>
                <a:latin typeface="TwCenMT-Regular"/>
              </a:rPr>
            </a:br>
            <a:r>
              <a:rPr lang="pt-BR" sz="1800" b="0" i="0" dirty="0">
                <a:solidFill>
                  <a:srgbClr val="DA1F28"/>
                </a:solidFill>
                <a:effectLst/>
                <a:latin typeface="Wingdings-Regular"/>
              </a:rPr>
              <a:t>◼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TwCenMT-Regular"/>
              </a:rPr>
              <a:t>CAVALIERI, A et al. AMA - Manual de Gerenciamento de Projetos.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TwCenMT-Regular"/>
              </a:rPr>
              <a:t>Brasport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TwCenMT-Regular"/>
              </a:rPr>
              <a:t>, 2009.</a:t>
            </a:r>
            <a:br>
              <a:rPr lang="pt-BR" sz="1800" b="0" i="0" dirty="0">
                <a:solidFill>
                  <a:srgbClr val="000000"/>
                </a:solidFill>
                <a:effectLst/>
                <a:latin typeface="TwCenMT-Regular"/>
              </a:rPr>
            </a:br>
            <a:r>
              <a:rPr lang="pt-BR" sz="1800" b="0" i="0" dirty="0">
                <a:solidFill>
                  <a:srgbClr val="DA1F28"/>
                </a:solidFill>
                <a:effectLst/>
                <a:latin typeface="Wingdings-Regular"/>
              </a:rPr>
              <a:t>◼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TwCenMT-Regular"/>
              </a:rPr>
              <a:t>Um Guia de Conhecimento em Gerenciamento de Projetos</a:t>
            </a:r>
            <a:r>
              <a:rPr lang="pt-BR" dirty="0"/>
              <a:t> </a:t>
            </a:r>
            <a:br>
              <a:rPr lang="pt-BR" dirty="0"/>
            </a:br>
            <a:endParaRPr lang="pt-BR" alt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38dc6f-a8b4-4f79-a2c6-b82ddc17a729">
      <Terms xmlns="http://schemas.microsoft.com/office/infopath/2007/PartnerControls"/>
    </lcf76f155ced4ddcb4097134ff3c332f>
    <TaxCatchAll xmlns="9f296061-4dbf-4598-a9c7-d84ff4c0064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E75B81DA1B47419D7FC19F21B2E94F" ma:contentTypeVersion="10" ma:contentTypeDescription="Create a new document." ma:contentTypeScope="" ma:versionID="22c911cd634891ffb466fe2ca41ead28">
  <xsd:schema xmlns:xsd="http://www.w3.org/2001/XMLSchema" xmlns:xs="http://www.w3.org/2001/XMLSchema" xmlns:p="http://schemas.microsoft.com/office/2006/metadata/properties" xmlns:ns2="7c38dc6f-a8b4-4f79-a2c6-b82ddc17a729" xmlns:ns3="9f296061-4dbf-4598-a9c7-d84ff4c00645" targetNamespace="http://schemas.microsoft.com/office/2006/metadata/properties" ma:root="true" ma:fieldsID="3ca2cac2cbee7e4018000fb159bdcf86" ns2:_="" ns3:_="">
    <xsd:import namespace="7c38dc6f-a8b4-4f79-a2c6-b82ddc17a729"/>
    <xsd:import namespace="9f296061-4dbf-4598-a9c7-d84ff4c00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8dc6f-a8b4-4f79-a2c6-b82ddc17a7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296061-4dbf-4598-a9c7-d84ff4c0064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30b112e-2d28-4213-9fbc-f89ad5ff49d9}" ma:internalName="TaxCatchAll" ma:showField="CatchAllData" ma:web="9f296061-4dbf-4598-a9c7-d84ff4c006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82C976-5D49-4B8A-A868-9E156B9CFD90}">
  <ds:schemaRefs>
    <ds:schemaRef ds:uri="http://schemas.microsoft.com/office/2006/metadata/properties"/>
    <ds:schemaRef ds:uri="http://schemas.microsoft.com/office/infopath/2007/PartnerControls"/>
    <ds:schemaRef ds:uri="0b73b5d8-c4e7-4c35-afe4-196ff5d930c9"/>
    <ds:schemaRef ds:uri="849fa1f3-77c5-486b-a7d1-73169648f326"/>
    <ds:schemaRef ds:uri="e62effa8-c612-4657-b64e-83124bbab7cb"/>
    <ds:schemaRef ds:uri="d78dacd4-ba8a-4506-8839-a918012505f4"/>
    <ds:schemaRef ds:uri="1b33fe4a-b510-4f34-bdad-ca4ca3f53012"/>
    <ds:schemaRef ds:uri="8a541ec5-5174-4d84-b55d-e8e4b286cca6"/>
    <ds:schemaRef ds:uri="70df149b-fe3d-4e67-a90f-0cbdfddf1312"/>
    <ds:schemaRef ds:uri="dfdf0eb2-a6ac-4f22-a8b7-230089c9822d"/>
    <ds:schemaRef ds:uri="8eed8331-59c8-4f23-8714-b6653687bb65"/>
    <ds:schemaRef ds:uri="4f8a575f-8453-4ab3-9699-104a6bc48a32"/>
    <ds:schemaRef ds:uri="7c38dc6f-a8b4-4f79-a2c6-b82ddc17a729"/>
    <ds:schemaRef ds:uri="9f296061-4dbf-4598-a9c7-d84ff4c00645"/>
  </ds:schemaRefs>
</ds:datastoreItem>
</file>

<file path=customXml/itemProps2.xml><?xml version="1.0" encoding="utf-8"?>
<ds:datastoreItem xmlns:ds="http://schemas.openxmlformats.org/officeDocument/2006/customXml" ds:itemID="{6BE0391E-1F31-42D4-A45F-E5E1B89EFB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38dc6f-a8b4-4f79-a2c6-b82ddc17a729"/>
    <ds:schemaRef ds:uri="9f296061-4dbf-4598-a9c7-d84ff4c00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4CE109-BB9A-4059-9BDF-8C6C0608A56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442</Words>
  <Application>Microsoft Office PowerPoint</Application>
  <PresentationFormat>Apresentação na tela (16:9)</PresentationFormat>
  <Paragraphs>68</Paragraphs>
  <Slides>10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Calibri</vt:lpstr>
      <vt:lpstr>Google Sans</vt:lpstr>
      <vt:lpstr>Tw Cen MT</vt:lpstr>
      <vt:lpstr>TwCenMT-Regular</vt:lpstr>
      <vt:lpstr>Wingdings</vt:lpstr>
      <vt:lpstr>Wingdings 2</vt:lpstr>
      <vt:lpstr>Wingdings-Regular</vt:lpstr>
      <vt:lpstr>Apresentação em Tela Larga</vt:lpstr>
      <vt:lpstr>Gestão DE PROJETOS</vt:lpstr>
      <vt:lpstr>Apresentação do PowerPoint</vt:lpstr>
      <vt:lpstr>Apresentação do PowerPoint</vt:lpstr>
      <vt:lpstr>Objetivos</vt:lpstr>
      <vt:lpstr>Ementa</vt:lpstr>
      <vt:lpstr>Metodologia</vt:lpstr>
      <vt:lpstr>Carga Horária da Disciplina</vt:lpstr>
      <vt:lpstr>Critério de Avaliação</vt:lpstr>
      <vt:lpstr>Temas para as Atividades Avaliativas Individual (AAI)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DE PROJETOS</dc:title>
  <dc:creator/>
  <cp:lastModifiedBy/>
  <cp:revision>3</cp:revision>
  <dcterms:created xsi:type="dcterms:W3CDTF">2012-07-30T18:40:18Z</dcterms:created>
  <dcterms:modified xsi:type="dcterms:W3CDTF">2026-02-12T17:30:21Z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0x0101004FE75B81DA1B47419D7FC19F21B2E94F</vt:lpwstr>
  </property>
  <property fmtid="{D5CDD505-2E9C-101B-9397-08002B2CF9AE}" pid="5" name="MediaServiceImageTags">
    <vt:lpwstr/>
  </property>
</Properties>
</file>